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60BBB-3734-4056-82DF-2A990668A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87DE63-61F3-48A4-A0FA-8697C230D9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C4D7B1-7A95-477E-B04B-C4F06A4B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5ACD-C3A0-4CD2-99BC-7FFC83C59135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D9C32E-AD83-468B-B6A5-7588658C5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F88D71-8095-4AD7-A0FE-89DF01129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A3B1-DD2E-4DC6-8B9E-695635070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92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CC1BC9-BA90-4ACE-BA74-AFE246C48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56AAD7-7908-427C-85FF-99368D683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5780B-6472-4D8D-A1F2-B9F2CB1B5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5ACD-C3A0-4CD2-99BC-7FFC83C59135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DB1FB4-4B81-4CB5-9233-78DB1D17E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27371-E274-4D65-AD39-D5FEEF892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A3B1-DD2E-4DC6-8B9E-695635070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866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F9637-C1BF-4077-9674-8DA66FE72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028028-9C84-4842-98D5-C0B81E813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821FB0-3EDE-436C-9B8E-B122D168B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5ACD-C3A0-4CD2-99BC-7FFC83C59135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A0B600-D14E-474C-9BE2-96F32F8BD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14D73A-C7F6-42F2-BBE5-DAC9918F6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A3B1-DD2E-4DC6-8B9E-695635070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457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DAFEA-FD0C-4EC9-90F4-BEA85852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41AB0C-35CC-4455-B969-6922DEB8E4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834219-0E21-4DA0-B4F4-0C67A4C42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605ECF-7372-4CD5-A9B5-1A428FC00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5ACD-C3A0-4CD2-99BC-7FFC83C59135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1EDF1B-7C1C-4A3F-9E53-BC846C0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A02ADC-9EF6-4944-B8C4-679D765A2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A3B1-DD2E-4DC6-8B9E-695635070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873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CF922A-A1EE-477C-9208-30C767B26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DA2846-1A11-4AA4-9816-5437276E4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E52592-C225-4D88-A9A4-24D99B47F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859528-0D37-4C72-AA1B-EA82F27B9F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2853607-5676-4608-8B88-0DCB3EEA2D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794B67-8501-4247-9FB4-22EB3B407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5ACD-C3A0-4CD2-99BC-7FFC83C59135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2D10570-B7B5-4CB5-8EEF-3DB7F351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A9F20E-50CC-4BE9-8C28-CA3394E6D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A3B1-DD2E-4DC6-8B9E-695635070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313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7D1CB7-7874-4F6F-AA59-C7385F1EB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36E126E-2967-47ED-B12F-0173145BD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5ACD-C3A0-4CD2-99BC-7FFC83C59135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8A9016-7A03-4258-9AEF-B9C97A88A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F9522E-4C95-48A4-AC42-3EA34777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A3B1-DD2E-4DC6-8B9E-695635070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17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15EA31C-F23B-4DB7-A4CB-BBEBF9EF7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5ACD-C3A0-4CD2-99BC-7FFC83C59135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6D89A14-6299-4527-9D07-D96F9FE28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F9C5AB-8FCE-4941-814E-D0EC4E8D3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A3B1-DD2E-4DC6-8B9E-695635070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97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E4557-52FB-45F0-9DE4-2998A048D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ECA8C8-E169-4360-B0D3-12DD1BEDD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AFF823-858C-4E0C-BA58-8C557433A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11C5AC-3616-404B-9ACB-9017E900D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5ACD-C3A0-4CD2-99BC-7FFC83C59135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BAC181-9EE4-42E3-9E79-6510BACD9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B72EAC-EDE4-453D-95C2-D24702C8E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A3B1-DD2E-4DC6-8B9E-695635070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E0F39-37F4-4DF5-B1F3-F94152446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0C8B1C9-BDD4-4800-BC4C-201C9ED02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03361F-A685-41A7-92A9-B2673F182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BD4FD3-CFDC-4DDA-A3DE-E65806E07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5ACD-C3A0-4CD2-99BC-7FFC83C59135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0C96E3-5475-45B3-9712-43D997C54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BDF9F9-B3DF-415A-8606-263F2BE6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A3B1-DD2E-4DC6-8B9E-695635070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583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48EC9-1B1D-4436-B053-DBB322CAF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41DDB8-85ED-4885-B4AA-A56DC0A8E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6515C5-35B9-4A87-8C76-56CEA84C4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5ACD-C3A0-4CD2-99BC-7FFC83C59135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0B9C6D-0BF3-4529-8910-F86D08B7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83F401-3E08-475C-A2E3-2F8F83DF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A3B1-DD2E-4DC6-8B9E-695635070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657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25AC702-A600-4435-A2B3-483E72D488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A3C177-7C95-4F13-9E21-E399F3D3E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E9F29E-F45C-4A0E-BF4C-72BF4012C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5ACD-C3A0-4CD2-99BC-7FFC83C59135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542465-EA76-464F-B0F9-9359749AB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84E979-0672-4611-9895-D76F11BBC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A3B1-DD2E-4DC6-8B9E-695635070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648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328C1E-6483-4B96-8447-F133EF34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0C58EF-AA4E-422E-8E82-25DCAE4BB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2D9EF-530B-4437-B3F1-256280FE83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85ACD-C3A0-4CD2-99BC-7FFC83C59135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3E04EC-D616-4467-AD14-A05335006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854E74-398E-4188-A5D3-79BDE70A6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CA3B1-DD2E-4DC6-8B9E-695635070D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64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F55E831-A413-86F3-9F7B-2785EE4B8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5176" y="1144069"/>
            <a:ext cx="5754896" cy="1667569"/>
          </a:xfrm>
        </p:spPr>
        <p:txBody>
          <a:bodyPr anchor="b">
            <a:normAutofit/>
          </a:bodyPr>
          <a:lstStyle/>
          <a:p>
            <a:pPr algn="ctr"/>
            <a:r>
              <a:rPr lang="ko-KR" altLang="en-US" sz="3700" dirty="0"/>
              <a:t>전산구조 진동 해석</a:t>
            </a:r>
            <a:br>
              <a:rPr lang="en-US" altLang="ko-KR" sz="3700" dirty="0"/>
            </a:br>
            <a:br>
              <a:rPr lang="en-US" altLang="ko-KR" sz="3700" dirty="0"/>
            </a:br>
            <a:r>
              <a:rPr lang="ko-KR" altLang="en-US" sz="2500" dirty="0"/>
              <a:t>실습 </a:t>
            </a:r>
            <a:r>
              <a:rPr lang="en-US" altLang="ko-KR" sz="2500" dirty="0"/>
              <a:t>5</a:t>
            </a:r>
            <a:endParaRPr lang="ko-KR" altLang="en-US" sz="2500" dirty="0"/>
          </a:p>
        </p:txBody>
      </p:sp>
      <p:pic>
        <p:nvPicPr>
          <p:cNvPr id="1026" name="Picture 2" descr="Cheongju University - Cumulus Association">
            <a:extLst>
              <a:ext uri="{FF2B5EF4-FFF2-40B4-BE49-F238E27FC236}">
                <a16:creationId xmlns:a16="http://schemas.microsoft.com/office/drawing/2014/main" id="{2F899756-6012-4A6F-B5F3-8B240895F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8130" y="1275070"/>
            <a:ext cx="3876165" cy="3876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DF680A-9CB0-F669-0FBD-7B957982E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4618" y="4270204"/>
            <a:ext cx="2127071" cy="1917531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ko-KR" altLang="en-US" sz="2000" dirty="0"/>
              <a:t>청주대학교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항공기계공학과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 err="1"/>
              <a:t>서보근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22.Oct. 2025</a:t>
            </a:r>
          </a:p>
          <a:p>
            <a:pPr marL="0" indent="0">
              <a:buNone/>
            </a:pPr>
            <a:r>
              <a:rPr lang="ko-KR" altLang="en-US" sz="2000" dirty="0"/>
              <a:t>김태형 교수님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79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FA43F8-2DE2-4610-BC0A-F1EB22852E22}"/>
              </a:ext>
            </a:extLst>
          </p:cNvPr>
          <p:cNvSpPr txBox="1"/>
          <p:nvPr/>
        </p:nvSpPr>
        <p:spPr>
          <a:xfrm>
            <a:off x="112666" y="122247"/>
            <a:ext cx="2127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</a:rPr>
              <a:t>&lt;</a:t>
            </a:r>
            <a:r>
              <a:rPr lang="ko-KR" altLang="en-US" sz="2400" dirty="0">
                <a:solidFill>
                  <a:srgbClr val="FF0000"/>
                </a:solidFill>
              </a:rPr>
              <a:t>실습과제 </a:t>
            </a:r>
            <a:r>
              <a:rPr lang="en-US" altLang="ko-KR" sz="2400" dirty="0">
                <a:solidFill>
                  <a:srgbClr val="FF0000"/>
                </a:solidFill>
              </a:rPr>
              <a:t>5&gt;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994B52-1624-4222-9C35-078BB4949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91" y="583912"/>
            <a:ext cx="3149600" cy="23591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1E06FAB-B776-445F-A185-8507A1609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625" y="583912"/>
            <a:ext cx="3248477" cy="23591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FC5580D-4BA3-4203-B9A0-48B5E26BB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835" y="583912"/>
            <a:ext cx="3716665" cy="235916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F0D3B98-A020-47D6-AEC4-5AA83DFE7B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500" y="2943072"/>
            <a:ext cx="6407451" cy="2676376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2BC5A388-9F80-48E4-B29C-A688CCF68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640" y="5700930"/>
            <a:ext cx="3603501" cy="862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CFE7785-F5FF-4F58-A2BF-9C3E52E336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0734" y="3022327"/>
            <a:ext cx="3395766" cy="251786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4129E82-3750-40C5-B54F-8C44A4CF00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9091" y="5760384"/>
            <a:ext cx="3261643" cy="743776"/>
          </a:xfrm>
          <a:prstGeom prst="rect">
            <a:avLst/>
          </a:prstGeom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413CB07E-B7D5-415F-AFD9-36F601A89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746" y="5700930"/>
            <a:ext cx="360045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6431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Documents and Settings\altit\Desktop\Mech-JPEG\Mech-JPEG\ch07\figure7-10.jpg">
            <a:extLst>
              <a:ext uri="{FF2B5EF4-FFF2-40B4-BE49-F238E27FC236}">
                <a16:creationId xmlns:a16="http://schemas.microsoft.com/office/drawing/2014/main" id="{B500E302-BA13-45E5-8320-0C3579485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234" y="255488"/>
            <a:ext cx="10040859" cy="5946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5F9A9A-4920-40EB-87C4-F66B12B381FD}"/>
              </a:ext>
            </a:extLst>
          </p:cNvPr>
          <p:cNvSpPr txBox="1"/>
          <p:nvPr/>
        </p:nvSpPr>
        <p:spPr>
          <a:xfrm>
            <a:off x="406400" y="1097698"/>
            <a:ext cx="28193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Material : Structural Steel</a:t>
            </a:r>
          </a:p>
          <a:p>
            <a:r>
              <a:rPr lang="en-US" altLang="ko-KR" dirty="0"/>
              <a:t>(E=200GPa, </a:t>
            </a:r>
            <a:r>
              <a:rPr lang="en-US" altLang="ko-KR" i="1" dirty="0">
                <a:latin typeface="Symbol" panose="05050102010706020507" pitchFamily="18" charset="2"/>
              </a:rPr>
              <a:t>n</a:t>
            </a:r>
            <a:r>
              <a:rPr lang="en-US" altLang="ko-KR" dirty="0"/>
              <a:t>=0.3)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8395DC-2091-4095-AAF8-7E88D38B86B1}"/>
              </a:ext>
            </a:extLst>
          </p:cNvPr>
          <p:cNvSpPr txBox="1"/>
          <p:nvPr/>
        </p:nvSpPr>
        <p:spPr>
          <a:xfrm>
            <a:off x="406400" y="1901185"/>
            <a:ext cx="2883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Internal pressure : 800kPa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CAC642-F0C8-4846-9797-2B88337199FD}"/>
              </a:ext>
            </a:extLst>
          </p:cNvPr>
          <p:cNvSpPr txBox="1"/>
          <p:nvPr/>
        </p:nvSpPr>
        <p:spPr>
          <a:xfrm>
            <a:off x="112666" y="122247"/>
            <a:ext cx="2127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</a:rPr>
              <a:t>&lt;</a:t>
            </a:r>
            <a:r>
              <a:rPr lang="ko-KR" altLang="en-US" sz="2400" dirty="0">
                <a:solidFill>
                  <a:srgbClr val="FF0000"/>
                </a:solidFill>
              </a:rPr>
              <a:t>실습과제 </a:t>
            </a:r>
            <a:r>
              <a:rPr lang="en-US" altLang="ko-KR" sz="2400" dirty="0">
                <a:solidFill>
                  <a:srgbClr val="FF0000"/>
                </a:solidFill>
              </a:rPr>
              <a:t>5&gt;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71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83DB24D-2646-4F8D-9B24-D88AF702F205}"/>
              </a:ext>
            </a:extLst>
          </p:cNvPr>
          <p:cNvSpPr/>
          <p:nvPr/>
        </p:nvSpPr>
        <p:spPr>
          <a:xfrm>
            <a:off x="586510" y="3744277"/>
            <a:ext cx="3509818" cy="30396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E52228C-68A5-431B-A85F-BF5E897AF978}"/>
              </a:ext>
            </a:extLst>
          </p:cNvPr>
          <p:cNvSpPr/>
          <p:nvPr/>
        </p:nvSpPr>
        <p:spPr>
          <a:xfrm>
            <a:off x="4341091" y="3744277"/>
            <a:ext cx="3509818" cy="30396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0BE76C3-36FC-4994-BA62-37269B0A3E7A}"/>
              </a:ext>
            </a:extLst>
          </p:cNvPr>
          <p:cNvSpPr/>
          <p:nvPr/>
        </p:nvSpPr>
        <p:spPr>
          <a:xfrm>
            <a:off x="8106097" y="3744277"/>
            <a:ext cx="3509818" cy="30396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3310FD-DC23-48CE-9D5B-E1C040522B8B}"/>
              </a:ext>
            </a:extLst>
          </p:cNvPr>
          <p:cNvSpPr txBox="1"/>
          <p:nvPr/>
        </p:nvSpPr>
        <p:spPr>
          <a:xfrm>
            <a:off x="1736120" y="4951654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결과 그림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3398AB-95FF-4AAA-ABEB-48E53F53C4B2}"/>
              </a:ext>
            </a:extLst>
          </p:cNvPr>
          <p:cNvSpPr txBox="1"/>
          <p:nvPr/>
        </p:nvSpPr>
        <p:spPr>
          <a:xfrm>
            <a:off x="5501125" y="4951654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결과 그림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15A82A-9523-4A09-809E-C95240B90115}"/>
              </a:ext>
            </a:extLst>
          </p:cNvPr>
          <p:cNvSpPr txBox="1"/>
          <p:nvPr/>
        </p:nvSpPr>
        <p:spPr>
          <a:xfrm>
            <a:off x="9266131" y="4951654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결과 그림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3C136C6C-13CE-4395-8E49-90497780C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297578"/>
              </p:ext>
            </p:extLst>
          </p:nvPr>
        </p:nvGraphicFramePr>
        <p:xfrm>
          <a:off x="4341091" y="2594264"/>
          <a:ext cx="350981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837">
                  <a:extLst>
                    <a:ext uri="{9D8B030D-6E8A-4147-A177-3AD203B41FA5}">
                      <a16:colId xmlns:a16="http://schemas.microsoft.com/office/drawing/2014/main" val="3840535898"/>
                    </a:ext>
                  </a:extLst>
                </a:gridCol>
                <a:gridCol w="1126837">
                  <a:extLst>
                    <a:ext uri="{9D8B030D-6E8A-4147-A177-3AD203B41FA5}">
                      <a16:colId xmlns:a16="http://schemas.microsoft.com/office/drawing/2014/main" val="3133344232"/>
                    </a:ext>
                  </a:extLst>
                </a:gridCol>
                <a:gridCol w="1256144">
                  <a:extLst>
                    <a:ext uri="{9D8B030D-6E8A-4147-A177-3AD203B41FA5}">
                      <a16:colId xmlns:a16="http://schemas.microsoft.com/office/drawing/2014/main" val="411835290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>
                          <a:solidFill>
                            <a:schemeClr val="bg1"/>
                          </a:solidFill>
                        </a:rPr>
                        <a:t>축방향</a:t>
                      </a: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600" b="1" dirty="0" err="1">
                          <a:solidFill>
                            <a:schemeClr val="bg1"/>
                          </a:solidFill>
                        </a:rPr>
                        <a:t>주응력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1600" b="1" baseline="0" dirty="0">
                          <a:solidFill>
                            <a:schemeClr val="bg1"/>
                          </a:solidFill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n-US" altLang="ko-KR" sz="1600" b="1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오차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(%)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944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이론값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[</a:t>
                      </a:r>
                      <a:r>
                        <a:rPr lang="en-US" altLang="ko-KR" sz="1200" b="1" dirty="0" err="1">
                          <a:solidFill>
                            <a:schemeClr val="bg1"/>
                          </a:solidFill>
                        </a:rPr>
                        <a:t>Mpa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]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>
                          <a:solidFill>
                            <a:schemeClr val="bg1"/>
                          </a:solidFill>
                        </a:rPr>
                        <a:t>해석값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013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35.8374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0.452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55569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148F35F6-93D2-4228-8540-304519156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300472"/>
              </p:ext>
            </p:extLst>
          </p:nvPr>
        </p:nvGraphicFramePr>
        <p:xfrm>
          <a:off x="586510" y="2594264"/>
          <a:ext cx="350981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837">
                  <a:extLst>
                    <a:ext uri="{9D8B030D-6E8A-4147-A177-3AD203B41FA5}">
                      <a16:colId xmlns:a16="http://schemas.microsoft.com/office/drawing/2014/main" val="3840535898"/>
                    </a:ext>
                  </a:extLst>
                </a:gridCol>
                <a:gridCol w="1126837">
                  <a:extLst>
                    <a:ext uri="{9D8B030D-6E8A-4147-A177-3AD203B41FA5}">
                      <a16:colId xmlns:a16="http://schemas.microsoft.com/office/drawing/2014/main" val="3133344232"/>
                    </a:ext>
                  </a:extLst>
                </a:gridCol>
                <a:gridCol w="1256144">
                  <a:extLst>
                    <a:ext uri="{9D8B030D-6E8A-4147-A177-3AD203B41FA5}">
                      <a16:colId xmlns:a16="http://schemas.microsoft.com/office/drawing/2014/main" val="411835290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원주방향 </a:t>
                      </a:r>
                      <a:r>
                        <a:rPr lang="ko-KR" altLang="en-US" sz="1600" b="1" dirty="0" err="1">
                          <a:solidFill>
                            <a:schemeClr val="bg1"/>
                          </a:solidFill>
                        </a:rPr>
                        <a:t>주응력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1600" b="1" baseline="0" dirty="0">
                          <a:solidFill>
                            <a:schemeClr val="bg1"/>
                          </a:solidFill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n-US" altLang="ko-KR" sz="1600" b="1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오차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(%)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944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이론값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[</a:t>
                      </a:r>
                      <a:r>
                        <a:rPr lang="en-US" altLang="ko-KR" sz="1200" b="1" dirty="0" err="1">
                          <a:solidFill>
                            <a:schemeClr val="bg1"/>
                          </a:solidFill>
                        </a:rPr>
                        <a:t>Mpa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]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>
                          <a:solidFill>
                            <a:schemeClr val="bg1"/>
                          </a:solidFill>
                        </a:rPr>
                        <a:t>해석값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013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71.6114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0.540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55569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53EE4167-5D9D-432B-84E0-BA7FC2EE2C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62836"/>
              </p:ext>
            </p:extLst>
          </p:nvPr>
        </p:nvGraphicFramePr>
        <p:xfrm>
          <a:off x="8095673" y="2594264"/>
          <a:ext cx="350981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837">
                  <a:extLst>
                    <a:ext uri="{9D8B030D-6E8A-4147-A177-3AD203B41FA5}">
                      <a16:colId xmlns:a16="http://schemas.microsoft.com/office/drawing/2014/main" val="3840535898"/>
                    </a:ext>
                  </a:extLst>
                </a:gridCol>
                <a:gridCol w="1126837">
                  <a:extLst>
                    <a:ext uri="{9D8B030D-6E8A-4147-A177-3AD203B41FA5}">
                      <a16:colId xmlns:a16="http://schemas.microsoft.com/office/drawing/2014/main" val="3133344232"/>
                    </a:ext>
                  </a:extLst>
                </a:gridCol>
                <a:gridCol w="1256144">
                  <a:extLst>
                    <a:ext uri="{9D8B030D-6E8A-4147-A177-3AD203B41FA5}">
                      <a16:colId xmlns:a16="http://schemas.microsoft.com/office/drawing/2014/main" val="411835290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최대전단응력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1600" b="1" baseline="0" dirty="0" err="1">
                          <a:solidFill>
                            <a:schemeClr val="bg1"/>
                          </a:solidFill>
                          <a:latin typeface="Symbol" panose="05050102010706020507" pitchFamily="18" charset="2"/>
                        </a:rPr>
                        <a:t>t</a:t>
                      </a:r>
                      <a:r>
                        <a:rPr lang="en-US" altLang="ko-KR" sz="1600" b="1" baseline="-25000" dirty="0" err="1">
                          <a:solidFill>
                            <a:schemeClr val="bg1"/>
                          </a:solidFill>
                        </a:rPr>
                        <a:t>max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오차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(%)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944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이론값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[</a:t>
                      </a:r>
                      <a:r>
                        <a:rPr lang="en-US" altLang="ko-KR" sz="1200" b="1" dirty="0" err="1">
                          <a:solidFill>
                            <a:schemeClr val="bg1"/>
                          </a:solidFill>
                        </a:rPr>
                        <a:t>Mpa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]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>
                          <a:solidFill>
                            <a:schemeClr val="bg1"/>
                          </a:solidFill>
                        </a:rPr>
                        <a:t>해석값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013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35.736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0.001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55569"/>
                  </a:ext>
                </a:extLst>
              </a:tr>
            </a:tbl>
          </a:graphicData>
        </a:graphic>
      </p:graphicFrame>
      <p:pic>
        <p:nvPicPr>
          <p:cNvPr id="26" name="Picture 2" descr="C:\Documents and Settings\altit\Desktop\Mech-JPEG\Mech-JPEG\ch07\figure7-10.jpg">
            <a:extLst>
              <a:ext uri="{FF2B5EF4-FFF2-40B4-BE49-F238E27FC236}">
                <a16:creationId xmlns:a16="http://schemas.microsoft.com/office/drawing/2014/main" id="{5E708D0D-F9F4-47F0-BC19-481EDA9EFB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08" t="41684" b="7196"/>
          <a:stretch/>
        </p:blipFill>
        <p:spPr bwMode="auto">
          <a:xfrm>
            <a:off x="3365753" y="74073"/>
            <a:ext cx="5460492" cy="2520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A6B6321-FE30-4583-8D2E-B45945116C66}"/>
              </a:ext>
            </a:extLst>
          </p:cNvPr>
          <p:cNvSpPr txBox="1"/>
          <p:nvPr/>
        </p:nvSpPr>
        <p:spPr>
          <a:xfrm>
            <a:off x="112666" y="122247"/>
            <a:ext cx="2127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</a:rPr>
              <a:t>&lt;</a:t>
            </a:r>
            <a:r>
              <a:rPr lang="ko-KR" altLang="en-US" sz="2400" dirty="0">
                <a:solidFill>
                  <a:srgbClr val="FF0000"/>
                </a:solidFill>
              </a:rPr>
              <a:t>실습과제 </a:t>
            </a:r>
            <a:r>
              <a:rPr lang="en-US" altLang="ko-KR" sz="2400" dirty="0">
                <a:solidFill>
                  <a:srgbClr val="FF0000"/>
                </a:solidFill>
              </a:rPr>
              <a:t>5&gt;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4CAD63-7891-5A79-F74F-1A3344624F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71" y="4777210"/>
            <a:ext cx="2833046" cy="11823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C433B8B-DD68-3C1D-4828-DAB6793A1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663" y="3858045"/>
            <a:ext cx="639529" cy="1012586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B6EE192D-1EDB-AADF-15CD-78AFD0435DD6}"/>
              </a:ext>
            </a:extLst>
          </p:cNvPr>
          <p:cNvGrpSpPr/>
          <p:nvPr/>
        </p:nvGrpSpPr>
        <p:grpSpPr>
          <a:xfrm>
            <a:off x="8318937" y="3851652"/>
            <a:ext cx="3139266" cy="2110950"/>
            <a:chOff x="4741236" y="3732501"/>
            <a:chExt cx="3139266" cy="211095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C72F5F0-01AB-54C5-BF73-38DD890A9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741236" y="4798521"/>
              <a:ext cx="2833046" cy="1044930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2614DD9D-69BF-9F90-058F-5A72C6576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68061" y="3732501"/>
              <a:ext cx="612441" cy="1047274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517B40B-9E22-945C-2286-D423913B53E7}"/>
              </a:ext>
            </a:extLst>
          </p:cNvPr>
          <p:cNvGrpSpPr/>
          <p:nvPr/>
        </p:nvGrpSpPr>
        <p:grpSpPr>
          <a:xfrm>
            <a:off x="4691786" y="3867924"/>
            <a:ext cx="3048380" cy="2091672"/>
            <a:chOff x="8434416" y="3734818"/>
            <a:chExt cx="3048380" cy="2091672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C78260C3-135C-EFF1-C97F-DA40231AA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34416" y="4815482"/>
              <a:ext cx="2833046" cy="1011008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0B9F83B0-AE7B-5B43-283B-19C1CF43D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806580" y="3734818"/>
              <a:ext cx="676216" cy="9570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570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Documents and Settings\altit\Desktop\Mech-JPEG\Mech-JPEG\ch07\figure7-10.jpg">
            <a:extLst>
              <a:ext uri="{FF2B5EF4-FFF2-40B4-BE49-F238E27FC236}">
                <a16:creationId xmlns:a16="http://schemas.microsoft.com/office/drawing/2014/main" id="{8736CE56-D380-4623-907E-25D0D8D85C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30" t="2865" r="2919" b="75317"/>
          <a:stretch/>
        </p:blipFill>
        <p:spPr bwMode="auto">
          <a:xfrm>
            <a:off x="5620327" y="385170"/>
            <a:ext cx="5995588" cy="1307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929206-B2C3-49C1-9B55-9B088123291F}"/>
              </a:ext>
            </a:extLst>
          </p:cNvPr>
          <p:cNvSpPr txBox="1"/>
          <p:nvPr/>
        </p:nvSpPr>
        <p:spPr>
          <a:xfrm>
            <a:off x="415637" y="577209"/>
            <a:ext cx="46362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내압이 </a:t>
            </a:r>
            <a:r>
              <a:rPr lang="en-US" altLang="ko-KR" dirty="0"/>
              <a:t>2,500kPa</a:t>
            </a:r>
            <a:r>
              <a:rPr lang="ko-KR" altLang="en-US" dirty="0"/>
              <a:t>에 안전한</a:t>
            </a:r>
            <a:endParaRPr lang="en-US" altLang="ko-KR" dirty="0"/>
          </a:p>
          <a:p>
            <a:r>
              <a:rPr lang="ko-KR" altLang="en-US" dirty="0"/>
              <a:t>압력용기를 설계하고 안전성을 </a:t>
            </a:r>
            <a:r>
              <a:rPr lang="ko-KR" altLang="en-US" dirty="0" err="1"/>
              <a:t>평가하시오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재질 및 두께는 자유롭게 반영할 것</a:t>
            </a:r>
            <a:r>
              <a:rPr lang="en-US" altLang="ko-KR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5BEE45-21AA-44B2-9F9F-D41E75063F2D}"/>
              </a:ext>
            </a:extLst>
          </p:cNvPr>
          <p:cNvSpPr txBox="1"/>
          <p:nvPr/>
        </p:nvSpPr>
        <p:spPr>
          <a:xfrm>
            <a:off x="189301" y="80086"/>
            <a:ext cx="2456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FF0000"/>
                </a:solidFill>
              </a:rPr>
              <a:t>&lt;Homework&gt;</a:t>
            </a:r>
            <a:endParaRPr lang="ko-KR" alt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DB6E552B-E9B0-4093-B5FB-036ACE0F5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033827"/>
              </p:ext>
            </p:extLst>
          </p:nvPr>
        </p:nvGraphicFramePr>
        <p:xfrm>
          <a:off x="4341091" y="1893108"/>
          <a:ext cx="350981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837">
                  <a:extLst>
                    <a:ext uri="{9D8B030D-6E8A-4147-A177-3AD203B41FA5}">
                      <a16:colId xmlns:a16="http://schemas.microsoft.com/office/drawing/2014/main" val="3840535898"/>
                    </a:ext>
                  </a:extLst>
                </a:gridCol>
                <a:gridCol w="1126837">
                  <a:extLst>
                    <a:ext uri="{9D8B030D-6E8A-4147-A177-3AD203B41FA5}">
                      <a16:colId xmlns:a16="http://schemas.microsoft.com/office/drawing/2014/main" val="3133344232"/>
                    </a:ext>
                  </a:extLst>
                </a:gridCol>
                <a:gridCol w="1256144">
                  <a:extLst>
                    <a:ext uri="{9D8B030D-6E8A-4147-A177-3AD203B41FA5}">
                      <a16:colId xmlns:a16="http://schemas.microsoft.com/office/drawing/2014/main" val="411835290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>
                          <a:solidFill>
                            <a:schemeClr val="bg1"/>
                          </a:solidFill>
                        </a:rPr>
                        <a:t>축방향</a:t>
                      </a: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600" b="1" dirty="0" err="1">
                          <a:solidFill>
                            <a:schemeClr val="bg1"/>
                          </a:solidFill>
                        </a:rPr>
                        <a:t>주응력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1600" b="1" baseline="0" dirty="0">
                          <a:solidFill>
                            <a:schemeClr val="bg1"/>
                          </a:solidFill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n-US" altLang="ko-KR" sz="1600" b="1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오차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(%)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944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이론값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[</a:t>
                      </a:r>
                      <a:r>
                        <a:rPr lang="en-US" altLang="ko-KR" sz="1200" b="1" dirty="0" err="1">
                          <a:solidFill>
                            <a:schemeClr val="bg1"/>
                          </a:solidFill>
                        </a:rPr>
                        <a:t>Mpa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]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>
                          <a:solidFill>
                            <a:schemeClr val="bg1"/>
                          </a:solidFill>
                        </a:rPr>
                        <a:t>해석값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013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112.5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111.932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0.505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55569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BBBC89F1-66E4-4882-97A5-953DAB7D3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644349"/>
              </p:ext>
            </p:extLst>
          </p:nvPr>
        </p:nvGraphicFramePr>
        <p:xfrm>
          <a:off x="586510" y="1893108"/>
          <a:ext cx="350981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837">
                  <a:extLst>
                    <a:ext uri="{9D8B030D-6E8A-4147-A177-3AD203B41FA5}">
                      <a16:colId xmlns:a16="http://schemas.microsoft.com/office/drawing/2014/main" val="3840535898"/>
                    </a:ext>
                  </a:extLst>
                </a:gridCol>
                <a:gridCol w="1126837">
                  <a:extLst>
                    <a:ext uri="{9D8B030D-6E8A-4147-A177-3AD203B41FA5}">
                      <a16:colId xmlns:a16="http://schemas.microsoft.com/office/drawing/2014/main" val="3133344232"/>
                    </a:ext>
                  </a:extLst>
                </a:gridCol>
                <a:gridCol w="1256144">
                  <a:extLst>
                    <a:ext uri="{9D8B030D-6E8A-4147-A177-3AD203B41FA5}">
                      <a16:colId xmlns:a16="http://schemas.microsoft.com/office/drawing/2014/main" val="411835290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원주방향 </a:t>
                      </a:r>
                      <a:r>
                        <a:rPr lang="ko-KR" altLang="en-US" sz="1600" b="1" dirty="0" err="1">
                          <a:solidFill>
                            <a:schemeClr val="bg1"/>
                          </a:solidFill>
                        </a:rPr>
                        <a:t>주응력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1600" b="1" baseline="0" dirty="0">
                          <a:solidFill>
                            <a:schemeClr val="bg1"/>
                          </a:solidFill>
                          <a:latin typeface="Symbol" panose="05050102010706020507" pitchFamily="18" charset="2"/>
                        </a:rPr>
                        <a:t>s</a:t>
                      </a:r>
                      <a:r>
                        <a:rPr lang="en-US" altLang="ko-KR" sz="1600" b="1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오차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(%)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944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이론값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[</a:t>
                      </a:r>
                      <a:r>
                        <a:rPr lang="en-US" altLang="ko-KR" sz="1200" b="1" dirty="0" err="1">
                          <a:solidFill>
                            <a:schemeClr val="bg1"/>
                          </a:solidFill>
                        </a:rPr>
                        <a:t>Mpa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]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>
                          <a:solidFill>
                            <a:schemeClr val="bg1"/>
                          </a:solidFill>
                        </a:rPr>
                        <a:t>해석값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013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224.572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0.190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55569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2893D228-CAAD-4AD2-BA6E-35C02C107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861313"/>
              </p:ext>
            </p:extLst>
          </p:nvPr>
        </p:nvGraphicFramePr>
        <p:xfrm>
          <a:off x="8095673" y="1893108"/>
          <a:ext cx="350981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837">
                  <a:extLst>
                    <a:ext uri="{9D8B030D-6E8A-4147-A177-3AD203B41FA5}">
                      <a16:colId xmlns:a16="http://schemas.microsoft.com/office/drawing/2014/main" val="3840535898"/>
                    </a:ext>
                  </a:extLst>
                </a:gridCol>
                <a:gridCol w="1126837">
                  <a:extLst>
                    <a:ext uri="{9D8B030D-6E8A-4147-A177-3AD203B41FA5}">
                      <a16:colId xmlns:a16="http://schemas.microsoft.com/office/drawing/2014/main" val="3133344232"/>
                    </a:ext>
                  </a:extLst>
                </a:gridCol>
                <a:gridCol w="1256144">
                  <a:extLst>
                    <a:ext uri="{9D8B030D-6E8A-4147-A177-3AD203B41FA5}">
                      <a16:colId xmlns:a16="http://schemas.microsoft.com/office/drawing/2014/main" val="411835290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최대전단응력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1600" b="1" baseline="0" dirty="0" err="1">
                          <a:solidFill>
                            <a:schemeClr val="bg1"/>
                          </a:solidFill>
                          <a:latin typeface="Symbol" panose="05050102010706020507" pitchFamily="18" charset="2"/>
                        </a:rPr>
                        <a:t>t</a:t>
                      </a:r>
                      <a:r>
                        <a:rPr lang="en-US" altLang="ko-KR" sz="1600" b="1" baseline="-25000" dirty="0" err="1">
                          <a:solidFill>
                            <a:schemeClr val="bg1"/>
                          </a:solidFill>
                        </a:rPr>
                        <a:t>max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오차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(%)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944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이론값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[</a:t>
                      </a:r>
                      <a:r>
                        <a:rPr lang="en-US" altLang="ko-KR" sz="1200" b="1" dirty="0" err="1">
                          <a:solidFill>
                            <a:schemeClr val="bg1"/>
                          </a:solidFill>
                        </a:rPr>
                        <a:t>Mpa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]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>
                          <a:solidFill>
                            <a:schemeClr val="bg1"/>
                          </a:solidFill>
                        </a:rPr>
                        <a:t>해석값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013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112.5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111.702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0.709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55569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083DB24D-2646-4F8D-9B24-D88AF702F205}"/>
              </a:ext>
            </a:extLst>
          </p:cNvPr>
          <p:cNvSpPr/>
          <p:nvPr/>
        </p:nvSpPr>
        <p:spPr>
          <a:xfrm>
            <a:off x="586510" y="3241141"/>
            <a:ext cx="3509818" cy="30396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E52228C-68A5-431B-A85F-BF5E897AF978}"/>
              </a:ext>
            </a:extLst>
          </p:cNvPr>
          <p:cNvSpPr/>
          <p:nvPr/>
        </p:nvSpPr>
        <p:spPr>
          <a:xfrm>
            <a:off x="4341091" y="3241141"/>
            <a:ext cx="3509818" cy="30396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0BE76C3-36FC-4994-BA62-37269B0A3E7A}"/>
              </a:ext>
            </a:extLst>
          </p:cNvPr>
          <p:cNvSpPr/>
          <p:nvPr/>
        </p:nvSpPr>
        <p:spPr>
          <a:xfrm>
            <a:off x="8106097" y="3241141"/>
            <a:ext cx="3509818" cy="30396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3310FD-DC23-48CE-9D5B-E1C040522B8B}"/>
              </a:ext>
            </a:extLst>
          </p:cNvPr>
          <p:cNvSpPr txBox="1"/>
          <p:nvPr/>
        </p:nvSpPr>
        <p:spPr>
          <a:xfrm>
            <a:off x="1736120" y="444851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결과 그림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3398AB-95FF-4AAA-ABEB-48E53F53C4B2}"/>
              </a:ext>
            </a:extLst>
          </p:cNvPr>
          <p:cNvSpPr txBox="1"/>
          <p:nvPr/>
        </p:nvSpPr>
        <p:spPr>
          <a:xfrm>
            <a:off x="5501125" y="444851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결과 그림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15A82A-9523-4A09-809E-C95240B90115}"/>
              </a:ext>
            </a:extLst>
          </p:cNvPr>
          <p:cNvSpPr txBox="1"/>
          <p:nvPr/>
        </p:nvSpPr>
        <p:spPr>
          <a:xfrm>
            <a:off x="9266131" y="444851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결과 그림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31F9BD-66B3-35E2-2522-48DD18249A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2107" y="3781501"/>
            <a:ext cx="2979171" cy="207269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944B903-47F4-AA11-ED1D-4765A27EA8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81056" y="3401010"/>
            <a:ext cx="668168" cy="1083515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6C2F0F10-C48A-8790-5306-D6E541F602BD}"/>
              </a:ext>
            </a:extLst>
          </p:cNvPr>
          <p:cNvGrpSpPr/>
          <p:nvPr/>
        </p:nvGrpSpPr>
        <p:grpSpPr>
          <a:xfrm>
            <a:off x="8224069" y="3313474"/>
            <a:ext cx="3248888" cy="2312797"/>
            <a:chOff x="4405317" y="3354908"/>
            <a:chExt cx="3248888" cy="2312797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6F4E6A3B-EA7B-1469-F0CD-396CE1EB9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05317" y="4484170"/>
              <a:ext cx="3210471" cy="1183535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C4F14FAC-FC7C-8678-1654-123A78A41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887578" y="3354908"/>
              <a:ext cx="766627" cy="1228024"/>
            </a:xfrm>
            <a:prstGeom prst="rect">
              <a:avLst/>
            </a:prstGeom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A4488DD-D639-3C3E-F757-B69937A6BB48}"/>
              </a:ext>
            </a:extLst>
          </p:cNvPr>
          <p:cNvGrpSpPr/>
          <p:nvPr/>
        </p:nvGrpSpPr>
        <p:grpSpPr>
          <a:xfrm>
            <a:off x="4476602" y="3313474"/>
            <a:ext cx="3239671" cy="2263527"/>
            <a:chOff x="8160611" y="3405160"/>
            <a:chExt cx="3239671" cy="2263527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D8F0C896-375D-8128-F939-104775C32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60611" y="4583691"/>
              <a:ext cx="2899506" cy="1084996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CCD5F9FF-5E67-7B8C-688D-775862614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610325" y="3405160"/>
              <a:ext cx="789957" cy="12280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0363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8E4B67-3333-69D6-BBF6-1B857943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ko-KR" altLang="en-US" dirty="0">
                <a:solidFill>
                  <a:schemeClr val="bg1"/>
                </a:solidFill>
              </a:rPr>
              <a:t>해석 결과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F2F6FD-AA59-29AE-2A47-83741190A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905" y="1461640"/>
            <a:ext cx="11634927" cy="51522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ko-KR" altLang="en-US" dirty="0"/>
              <a:t>해석 결과</a:t>
            </a:r>
            <a:endParaRPr lang="en-US" altLang="ko-KR" dirty="0"/>
          </a:p>
          <a:p>
            <a:r>
              <a:rPr lang="en-US" altLang="ko-KR" sz="1600" dirty="0"/>
              <a:t>Tensile Yield Strength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250</a:t>
            </a:r>
            <a:r>
              <a:rPr lang="ko-KR" altLang="en-US" sz="1600" dirty="0"/>
              <a:t> </a:t>
            </a:r>
            <a:r>
              <a:rPr lang="en-US" altLang="ko-KR" sz="1600" dirty="0"/>
              <a:t>MPa</a:t>
            </a:r>
          </a:p>
          <a:p>
            <a:r>
              <a:rPr lang="en-US" altLang="ko-KR" sz="1600" dirty="0"/>
              <a:t>Pressure = 2.5 </a:t>
            </a:r>
            <a:r>
              <a:rPr lang="en-US" altLang="ko-KR" sz="1600" dirty="0" err="1"/>
              <a:t>Mpa</a:t>
            </a:r>
            <a:r>
              <a:rPr lang="en-US" altLang="ko-KR" sz="1600" dirty="0"/>
              <a:t>, t=20 (mm), r=1,600 (mm)</a:t>
            </a:r>
            <a:endParaRPr lang="ko-KR" altLang="en-US" sz="1600" dirty="0"/>
          </a:p>
          <a:p>
            <a:endParaRPr lang="en-US" altLang="ko-KR" sz="1600" dirty="0"/>
          </a:p>
          <a:p>
            <a:r>
              <a:rPr lang="ko-KR" altLang="en-US" sz="1600" dirty="0" err="1"/>
              <a:t>일때</a:t>
            </a:r>
            <a:r>
              <a:rPr lang="en-US" altLang="ko-KR" sz="1600" dirty="0"/>
              <a:t>, </a:t>
            </a:r>
            <a:r>
              <a:rPr lang="ko-KR" altLang="en-US" sz="1600" dirty="0"/>
              <a:t>다음 식에 의해 이론 값이 정의된다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이때</a:t>
            </a:r>
            <a:r>
              <a:rPr lang="en-US" altLang="ko-KR" sz="1600" dirty="0"/>
              <a:t>, </a:t>
            </a:r>
            <a:r>
              <a:rPr lang="ko-KR" altLang="en-US" sz="1600" dirty="0"/>
              <a:t>원주방향 주 응력</a:t>
            </a:r>
            <a:r>
              <a:rPr lang="en-US" altLang="ko-KR" sz="1600" dirty="0"/>
              <a:t>, </a:t>
            </a:r>
            <a:r>
              <a:rPr lang="ko-KR" altLang="en-US" sz="1600" dirty="0"/>
              <a:t>축 방향 주 응력</a:t>
            </a:r>
            <a:r>
              <a:rPr lang="en-US" altLang="ko-KR" sz="1600" dirty="0"/>
              <a:t>, </a:t>
            </a:r>
            <a:r>
              <a:rPr lang="ko-KR" altLang="en-US" sz="1600" dirty="0"/>
              <a:t>최대 전단응력 모두 </a:t>
            </a:r>
            <a:r>
              <a:rPr lang="en-US" altLang="ko-KR" sz="1600" dirty="0"/>
              <a:t>Tensile Yield Strength</a:t>
            </a:r>
            <a:r>
              <a:rPr lang="ko-KR" altLang="en-US" sz="1600" dirty="0"/>
              <a:t>보다 적음으로 파괴되지는 않으나</a:t>
            </a:r>
            <a:r>
              <a:rPr lang="en-US" altLang="ko-KR" sz="1600" dirty="0"/>
              <a:t>, </a:t>
            </a:r>
          </a:p>
          <a:p>
            <a:pPr marL="0" indent="0">
              <a:buNone/>
            </a:pPr>
            <a:r>
              <a:rPr lang="en-US" altLang="ko-KR" sz="1600" dirty="0"/>
              <a:t>   </a:t>
            </a:r>
            <a:r>
              <a:rPr lang="ko-KR" altLang="en-US" sz="1600" dirty="0"/>
              <a:t>안전 계수가 </a:t>
            </a:r>
            <a:r>
              <a:rPr lang="en-US" altLang="ko-KR" sz="1600" dirty="0"/>
              <a:t>1.1</a:t>
            </a:r>
            <a:r>
              <a:rPr lang="ko-KR" altLang="en-US" sz="1600" dirty="0"/>
              <a:t>로 매우 낮기 때문주의가 필요하며</a:t>
            </a:r>
            <a:r>
              <a:rPr lang="en-US" altLang="ko-KR" sz="1600" dirty="0"/>
              <a:t>, </a:t>
            </a:r>
            <a:r>
              <a:rPr lang="ko-KR" altLang="en-US" sz="1600" dirty="0"/>
              <a:t>가능한 경우 두께의 치수를 증가시킴이 권장된다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ADDA20-0C39-704B-96C1-092C961F7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51" y="3321431"/>
            <a:ext cx="1371791" cy="9431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A8B24BF-B981-2E1F-9254-EFD8150A9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775" y="3359536"/>
            <a:ext cx="1333686" cy="9335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29A7133-2902-F1ED-40D0-D959E5FFB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795" y="3359536"/>
            <a:ext cx="1924319" cy="8573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04B22CA-EB26-8E3C-00DB-5E3A62AB6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10" y="4216906"/>
            <a:ext cx="11936491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738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243</Words>
  <Application>Microsoft Office PowerPoint</Application>
  <PresentationFormat>와이드스크린</PresentationFormat>
  <Paragraphs>79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Symbol</vt:lpstr>
      <vt:lpstr>Wingdings</vt:lpstr>
      <vt:lpstr>Office 테마</vt:lpstr>
      <vt:lpstr>전산구조 진동 해석  실습 5</vt:lpstr>
      <vt:lpstr>PowerPoint 프레젠테이션</vt:lpstr>
      <vt:lpstr>PowerPoint 프레젠테이션</vt:lpstr>
      <vt:lpstr>PowerPoint 프레젠테이션</vt:lpstr>
      <vt:lpstr>PowerPoint 프레젠테이션</vt:lpstr>
      <vt:lpstr>해석 결과 정리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CJU 316</dc:creator>
  <cp:lastModifiedBy>윤현덕</cp:lastModifiedBy>
  <cp:revision>15</cp:revision>
  <dcterms:created xsi:type="dcterms:W3CDTF">2022-05-03T23:20:20Z</dcterms:created>
  <dcterms:modified xsi:type="dcterms:W3CDTF">2025-10-22T03:24:54Z</dcterms:modified>
</cp:coreProperties>
</file>